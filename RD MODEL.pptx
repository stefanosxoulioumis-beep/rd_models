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Μεσαίο στυλ 2 - Έμφαση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82947" autoAdjust="0"/>
  </p:normalViewPr>
  <p:slideViewPr>
    <p:cSldViewPr snapToGrid="0">
      <p:cViewPr varScale="1">
        <p:scale>
          <a:sx n="68" d="100"/>
          <a:sy n="68" d="100"/>
        </p:scale>
        <p:origin x="126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Διαφάνεια τίτλο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3200400"/>
          </a:xfrm>
        </p:spPr>
        <p:txBody>
          <a:bodyPr anchor="b">
            <a:normAutofit/>
          </a:bodyPr>
          <a:lstStyle>
            <a:lvl1pPr algn="ctr">
              <a:defRPr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1905000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l-GR"/>
              <a:t>Κάντε κλικ για να επεξεργαστείτε τον υπότιτλο του υποδείγματος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Τίτλος και περιεχό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Κεφαλίδα ενότητα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1013" y="3308581"/>
            <a:ext cx="8686800" cy="1468800"/>
          </a:xfrm>
        </p:spPr>
        <p:txBody>
          <a:bodyPr anchor="b"/>
          <a:lstStyle>
            <a:lvl1pPr algn="r">
              <a:defRPr sz="4000" b="0" cap="all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1011" y="4777381"/>
            <a:ext cx="8686801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Δύο περιεχόμεν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2" y="2666999"/>
            <a:ext cx="4876800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612" y="2667000"/>
            <a:ext cx="4876800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Σύγκρισ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9280" y="2658533"/>
            <a:ext cx="458893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2" y="3243262"/>
            <a:ext cx="4876800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43133" y="2667000"/>
            <a:ext cx="4604280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612" y="3243262"/>
            <a:ext cx="4876801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Μόνο τίτλο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Κεν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Περιεχόμενο με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3549121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3812" y="609601"/>
            <a:ext cx="5943601" cy="51816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3549121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Εικόνα με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5334001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33733" y="-18288"/>
            <a:ext cx="3276599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l-GR"/>
              <a:t>Κάντε κλικ στο εικονίδιο για να προσθέσετε εικόνα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5334001" cy="18288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99212" y="5883275"/>
            <a:ext cx="914400" cy="365125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2/5/2026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2" y="5883275"/>
            <a:ext cx="51054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42612" y="5883275"/>
            <a:ext cx="3225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Πανοραμική εικόνα με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4732865"/>
            <a:ext cx="99060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796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l-GR"/>
              <a:t>Κάντε κλικ στο εικονίδιο για να προσθέσετε εικόνα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3" y="5299603"/>
            <a:ext cx="99060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Τίτλος και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3124199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Εισαγωγικά με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buNone/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l-GR"/>
              <a:t>Στυλ κειμένου υποδείγματος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Κάρτα ονόματο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3308581"/>
            <a:ext cx="99060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0" y="4777381"/>
            <a:ext cx="9906001" cy="8604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l-GR"/>
              <a:t>Στυλ κειμένου υποδείγματος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Κάρτα ονόματος με φράσ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886200"/>
            <a:ext cx="9906000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l-GR"/>
              <a:t>Στυλ κειμένου υποδείγματος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775200"/>
            <a:ext cx="9906000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ή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505200"/>
            <a:ext cx="99060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l-GR"/>
              <a:t>Στυλ κειμένου υποδείγματος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Τίτλος και Κατακόρυφο κεί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Κατακόρυφος τίτλος και Κεί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09599"/>
            <a:ext cx="2210514" cy="5181601"/>
          </a:xfrm>
        </p:spPr>
        <p:txBody>
          <a:bodyPr vert="eaVert"/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2" y="609600"/>
            <a:ext cx="7543800" cy="5181600"/>
          </a:xfrm>
        </p:spPr>
        <p:txBody>
          <a:bodyPr vert="eaVert" anchor="t"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3" y="2666999"/>
            <a:ext cx="9905998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2/5/2026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1" r:id="rId9"/>
    <p:sldLayoutId id="2147483657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6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20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8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6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0379440D-DE5E-BA33-1239-633FCF2D940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RD MODEL </a:t>
            </a:r>
            <a:endParaRPr lang="el-GR" dirty="0"/>
          </a:p>
        </p:txBody>
      </p:sp>
      <p:sp>
        <p:nvSpPr>
          <p:cNvPr id="3" name="Υπότιτλος 2">
            <a:extLst>
              <a:ext uri="{FF2B5EF4-FFF2-40B4-BE49-F238E27FC236}">
                <a16:creationId xmlns:a16="http://schemas.microsoft.com/office/drawing/2014/main" id="{60227379-85BC-AE53-3DA4-FD3423AFCA7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TOURIST ACCOMMODATION COMPANY</a:t>
            </a:r>
            <a:endParaRPr lang="el-GR" dirty="0"/>
          </a:p>
        </p:txBody>
      </p:sp>
    </p:spTree>
    <p:extLst>
      <p:ext uri="{BB962C8B-B14F-4D97-AF65-F5344CB8AC3E}">
        <p14:creationId xmlns:p14="http://schemas.microsoft.com/office/powerpoint/2010/main" val="42329183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E79C0D2B-C86C-1621-A631-982065A288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6340" y="0"/>
            <a:ext cx="9905998" cy="609600"/>
          </a:xfrm>
        </p:spPr>
        <p:txBody>
          <a:bodyPr/>
          <a:lstStyle/>
          <a:p>
            <a:r>
              <a:rPr lang="en-US" dirty="0"/>
              <a:t>LOGICAL RD MODEL</a:t>
            </a:r>
            <a:endParaRPr lang="el-GR" dirty="0"/>
          </a:p>
        </p:txBody>
      </p:sp>
      <p:sp>
        <p:nvSpPr>
          <p:cNvPr id="4" name="Θέση περιεχομένου 3">
            <a:extLst>
              <a:ext uri="{FF2B5EF4-FFF2-40B4-BE49-F238E27FC236}">
                <a16:creationId xmlns:a16="http://schemas.microsoft.com/office/drawing/2014/main" id="{C05FB2C2-F497-F005-24AB-6495DB7355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l-GR"/>
          </a:p>
        </p:txBody>
      </p:sp>
      <p:pic>
        <p:nvPicPr>
          <p:cNvPr id="9" name="Εικόνα 8" descr="Εικόνα που περιέχει κείμενο, στιγμιότυπο οθόνης, διάγραμμα, γραμματοσειρά">
            <a:extLst>
              <a:ext uri="{FF2B5EF4-FFF2-40B4-BE49-F238E27FC236}">
                <a16:creationId xmlns:a16="http://schemas.microsoft.com/office/drawing/2014/main" id="{D8D00C07-12A0-396C-B1DD-FA5E0F8056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9600"/>
            <a:ext cx="12192000" cy="624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49009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A9B93819-65E8-C376-81FD-1BF4ECC120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905998" cy="904568"/>
          </a:xfrm>
        </p:spPr>
        <p:txBody>
          <a:bodyPr/>
          <a:lstStyle/>
          <a:p>
            <a:r>
              <a:rPr lang="el-GR" dirty="0"/>
              <a:t>ΠΕΡΙΓΡΑΦΗ</a:t>
            </a:r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FEDA5B27-8F45-F8A3-FDDC-2A406A00B0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415846"/>
            <a:ext cx="12192000" cy="3431458"/>
          </a:xfrm>
        </p:spPr>
        <p:txBody>
          <a:bodyPr/>
          <a:lstStyle/>
          <a:p>
            <a:pPr marL="0" indent="0" algn="just">
              <a:buNone/>
            </a:pPr>
            <a:r>
              <a:rPr lang="el-GR" dirty="0"/>
              <a:t>ΜΙΑ ΤΟΥΡΙΣΤΙΚΗ ΕΤΑΙΡΕΙΑ ΚΑΤΑΛΥΜΑΤΩΝ ΔΙΑΘΕΤΕΙ ΔΙΑΦΟΡΩΝ ΤΥΠΩΝ ΚΑΤΑΛΥΜΑΤΑ, ΤΑ ΟΠΟΙΑ ΚΡΑΤΟΥΝΤΑΙ ΑΠΟ ΤΟΥΣ ΧΡΗΣΤΕΣ ΚΑΙ ΒΑΘΜΟΛΟΓΟΥΝΤΑΙ ΑΠΟ ΤΟΥΣ ΑΞΙΟΛΟΓΗΤΕΣ. ΤΟ ΚΑΘΕ ΚΑΤΑΛΥΜΑ ΑΝΗΚΕΙ ΣΕ ΕΝΑΝ ΟΙΚΟΔΕΣΠΟΤΗ, Ο ΟΠΟΙΟΣ ΜΠΟΡΕΙ ΝΑ ΔΙΑΘΕΤΕΙ ΠΕΡΙΣΣΟΤΕΡΑ ΑΠΟ ΕΝΑ ΚΑΤΑΛΥΜΑ.ΚΑΘΕ ΟΙΚΟΔΕΣΠΟΤΗΣ ΜΠΟΡΕΙ ΝΑ ΣΥΝΔΕΕΤΑΙ ΜΕ ΔΙΑΦΟΡΟΥΣ ΤΥΠΟΥΣ ΤΑΥΤΟΠΟΙΗΣΗΣ (ΟΠΩΣ EMAIL, ΚΙΝΗΤΟ, ΔΙΑΒΑΤΗΡΙΟ) ΚΑΙ ΚΑΘΕ ΤΥΠΟΣ ΤΑΥΤΟΠΟΙΗΣΗΣ ΜΠΟΡΕΙ ΝΑ ΑΝΗΚΕΙ ΣΕ ΠΟΛΛΟΥΣ ΟΙΚΟΔΕΣΠΟΤΕΣ. Η ΣΥΝΔΕΣΗ ΑΥΤΗ ΚΑΤΑΓΡΑΦΕΙ ΚΑΙ ΤΙΣ ΧΡΟΝΙΚΕΣ ΠΕΡΙΟΔΟΥΣ ΠΟΥ ΙΣΧΥΕΙ ΚΑΘΕ ΤΥΠΟΣ ΓΙΑ ΚΑΘΕ ΟΙΚΟΔΕΣΠΟΤΗ.ΟΙ ΧΡΗΣΤΕΣ ΚΑΝΟΥΝ ΚΡΑΤΗΣΕΙΣ ΣΕ ΚΑΤΑΛΥΜΑΤΑ ΚΑΙ ΚΑΘΕ ΚΑΤΑΛΥΜΑ ΜΠΟΡΕΙ ΝΑ ΛΑΜΒΑΝΕΙ ΑΞΙΟΛΟΓΗΣΕΙΣ ΑΠΟ ΑΞΙΟΛΟΓΗΤΕΣ.</a:t>
            </a:r>
          </a:p>
        </p:txBody>
      </p:sp>
    </p:spTree>
    <p:extLst>
      <p:ext uri="{BB962C8B-B14F-4D97-AF65-F5344CB8AC3E}">
        <p14:creationId xmlns:p14="http://schemas.microsoft.com/office/powerpoint/2010/main" val="42384039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Θέση περιεχομένου 7">
            <a:extLst>
              <a:ext uri="{FF2B5EF4-FFF2-40B4-BE49-F238E27FC236}">
                <a16:creationId xmlns:a16="http://schemas.microsoft.com/office/drawing/2014/main" id="{7D1407E0-CBDA-7522-601F-583F641A1D8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71128141"/>
              </p:ext>
            </p:extLst>
          </p:nvPr>
        </p:nvGraphicFramePr>
        <p:xfrm>
          <a:off x="0" y="0"/>
          <a:ext cx="12192000" cy="77750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411215504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585167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153691558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91018351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1174386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158558488"/>
                    </a:ext>
                  </a:extLst>
                </a:gridCol>
              </a:tblGrid>
              <a:tr h="758983"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</a:pPr>
                      <a:r>
                        <a:rPr lang="en-US" sz="1400" b="1" dirty="0"/>
                        <a:t>Entities</a:t>
                      </a:r>
                      <a:endParaRPr lang="el-GR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</a:pPr>
                      <a:r>
                        <a:rPr lang="en-US" sz="1400" dirty="0"/>
                        <a:t>Relationship</a:t>
                      </a:r>
                      <a:endParaRPr lang="el-G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</a:pPr>
                      <a:r>
                        <a:rPr lang="en-US" sz="1400" dirty="0"/>
                        <a:t>Primary</a:t>
                      </a:r>
                      <a:r>
                        <a:rPr lang="el-GR" sz="1400" dirty="0"/>
                        <a:t> </a:t>
                      </a:r>
                      <a:r>
                        <a:rPr lang="en-US" sz="1400" dirty="0"/>
                        <a:t>Key</a:t>
                      </a:r>
                      <a:endParaRPr lang="el-G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</a:pPr>
                      <a:r>
                        <a:rPr lang="en-US" sz="1400" dirty="0"/>
                        <a:t>Foreign Key</a:t>
                      </a:r>
                      <a:endParaRPr lang="el-G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</a:pPr>
                      <a:r>
                        <a:rPr lang="en-US" sz="1400" dirty="0"/>
                        <a:t>Attributes</a:t>
                      </a:r>
                      <a:endParaRPr lang="el-G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</a:pPr>
                      <a:r>
                        <a:rPr lang="en-US" sz="1400" dirty="0"/>
                        <a:t>Data types</a:t>
                      </a:r>
                      <a:endParaRPr lang="el-G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6874652"/>
                  </a:ext>
                </a:extLst>
              </a:tr>
              <a:tr h="86752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l-GR" sz="1000" dirty="0"/>
                        <a:t>Καταλύματα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el-GR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l-GR" sz="1000" dirty="0"/>
                        <a:t>Κατάλυμα_</a:t>
                      </a:r>
                      <a:r>
                        <a:rPr lang="en-US" sz="1000" dirty="0"/>
                        <a:t>id</a:t>
                      </a:r>
                      <a:endParaRPr lang="el-GR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l-GR" sz="1000" dirty="0"/>
                        <a:t>Οικοδεσπότης_</a:t>
                      </a:r>
                      <a:r>
                        <a:rPr lang="en-US" sz="1000" dirty="0"/>
                        <a:t>id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000" dirty="0"/>
                        <a:t>T</a:t>
                      </a:r>
                      <a:r>
                        <a:rPr lang="el-GR" sz="1000" dirty="0" err="1"/>
                        <a:t>ύπος_Δωματίου</a:t>
                      </a:r>
                      <a:r>
                        <a:rPr lang="el-GR" sz="1000" dirty="0"/>
                        <a:t>_</a:t>
                      </a:r>
                      <a:r>
                        <a:rPr lang="en-US" sz="1000" dirty="0"/>
                        <a:t>id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endParaRPr lang="el-GR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l-GR" sz="1000" dirty="0" err="1"/>
                        <a:t>Όνομα_καταλύματος</a:t>
                      </a:r>
                      <a:r>
                        <a:rPr lang="en-US" sz="1000" dirty="0"/>
                        <a:t>/</a:t>
                      </a:r>
                      <a:r>
                        <a:rPr lang="el-GR" sz="1000" dirty="0"/>
                        <a:t>Εικόνα /</a:t>
                      </a:r>
                      <a:r>
                        <a:rPr lang="en-US" sz="1000" dirty="0"/>
                        <a:t>Latitude /longitude /</a:t>
                      </a:r>
                      <a:r>
                        <a:rPr lang="el-GR" sz="1000" dirty="0" err="1"/>
                        <a:t>Πλήθος_υπνοδωματίων</a:t>
                      </a:r>
                      <a:r>
                        <a:rPr lang="el-GR" sz="1000" dirty="0"/>
                        <a:t> /</a:t>
                      </a:r>
                      <a:r>
                        <a:rPr lang="el-GR" sz="1000" dirty="0" err="1"/>
                        <a:t>Πλήθος_κρεβατιών</a:t>
                      </a:r>
                      <a:r>
                        <a:rPr lang="el-GR" sz="1000" dirty="0"/>
                        <a:t> / </a:t>
                      </a:r>
                      <a:r>
                        <a:rPr lang="el-GR" sz="1000" dirty="0" err="1"/>
                        <a:t>Μέγιστος_αριθμός_ατόμων</a:t>
                      </a:r>
                      <a:endParaRPr lang="el-GR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varchar </a:t>
                      </a:r>
                      <a:r>
                        <a:rPr lang="el-GR" sz="1000" dirty="0"/>
                        <a:t>/</a:t>
                      </a:r>
                      <a:r>
                        <a:rPr lang="en-US" sz="1000" dirty="0"/>
                        <a:t> varchar / float / float / integer / integer / integer</a:t>
                      </a:r>
                      <a:endParaRPr lang="el-GR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2578463"/>
                  </a:ext>
                </a:extLst>
              </a:tr>
              <a:tr h="86752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l-GR" sz="1000" dirty="0"/>
                        <a:t>Αξιολογήσεις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000" dirty="0"/>
                        <a:t>N-1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/>
                        <a:t>(</a:t>
                      </a:r>
                      <a:r>
                        <a:rPr lang="el-GR" sz="1000" dirty="0"/>
                        <a:t>Καταλύματα</a:t>
                      </a:r>
                      <a:r>
                        <a:rPr lang="en-US" sz="1000" dirty="0"/>
                        <a:t>)</a:t>
                      </a:r>
                      <a:endParaRPr lang="el-GR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l-GR" sz="1000" dirty="0"/>
                        <a:t>Αξιολόγηση_</a:t>
                      </a:r>
                      <a:r>
                        <a:rPr lang="en-US" sz="1000" dirty="0"/>
                        <a:t>id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endParaRPr lang="el-GR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sz="1000" dirty="0" err="1"/>
                        <a:t>Αξιολογητής</a:t>
                      </a:r>
                      <a:r>
                        <a:rPr lang="el-GR" sz="1000" dirty="0"/>
                        <a:t>_</a:t>
                      </a:r>
                      <a:r>
                        <a:rPr lang="en-US" sz="1000" dirty="0"/>
                        <a:t>id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sz="1000" dirty="0"/>
                        <a:t>Κατάλυμα_</a:t>
                      </a:r>
                      <a:r>
                        <a:rPr lang="en-US" sz="1000" dirty="0"/>
                        <a:t>id</a:t>
                      </a:r>
                      <a:endParaRPr lang="el-GR" sz="1000" dirty="0"/>
                    </a:p>
                    <a:p>
                      <a:pPr algn="ctr">
                        <a:lnSpc>
                          <a:spcPct val="150000"/>
                        </a:lnSpc>
                      </a:pPr>
                      <a:endParaRPr lang="el-GR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l-GR" sz="1000" dirty="0"/>
                        <a:t>Βαθμολογία /Ημερομηνία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decimal / datetime</a:t>
                      </a:r>
                      <a:endParaRPr lang="el-GR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3592214"/>
                  </a:ext>
                </a:extLst>
              </a:tr>
              <a:tr h="86752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l-GR" sz="1000" dirty="0" err="1"/>
                        <a:t>Αξιολογητές</a:t>
                      </a:r>
                      <a:endParaRPr lang="el-GR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000" dirty="0"/>
                        <a:t>1-N </a:t>
                      </a:r>
                      <a:endParaRPr lang="el-GR" sz="1000" dirty="0"/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000" dirty="0"/>
                        <a:t>(</a:t>
                      </a:r>
                      <a:r>
                        <a:rPr lang="el-GR" sz="1000" dirty="0"/>
                        <a:t>Αξιολογήσεις</a:t>
                      </a:r>
                      <a:r>
                        <a:rPr lang="en-US" sz="1000" dirty="0"/>
                        <a:t>)</a:t>
                      </a:r>
                      <a:endParaRPr lang="el-GR" sz="1000" dirty="0"/>
                    </a:p>
                    <a:p>
                      <a:pPr algn="ctr">
                        <a:lnSpc>
                          <a:spcPct val="150000"/>
                        </a:lnSpc>
                      </a:pPr>
                      <a:endParaRPr lang="el-GR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l-GR" sz="1000" dirty="0" err="1"/>
                        <a:t>Αξιολογητής</a:t>
                      </a:r>
                      <a:r>
                        <a:rPr lang="el-GR" sz="1000" dirty="0"/>
                        <a:t>_</a:t>
                      </a:r>
                      <a:r>
                        <a:rPr lang="en-US" sz="1000" dirty="0"/>
                        <a:t>id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endParaRPr lang="el-GR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el-GR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l-GR" sz="1000" dirty="0"/>
                        <a:t>Όνομα /Χώρα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varchar / varchar </a:t>
                      </a:r>
                      <a:endParaRPr lang="el-GR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1263626"/>
                  </a:ext>
                </a:extLst>
              </a:tr>
              <a:tr h="103627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l-GR" sz="1000" dirty="0"/>
                        <a:t>Οικοδεσπότες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000" dirty="0"/>
                        <a:t>1-N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/>
                        <a:t>(</a:t>
                      </a:r>
                      <a:r>
                        <a:rPr lang="el-GR" sz="1000" dirty="0"/>
                        <a:t>Καταλύματα</a:t>
                      </a:r>
                      <a:r>
                        <a:rPr lang="en-US" sz="1000" dirty="0"/>
                        <a:t>)</a:t>
                      </a:r>
                      <a:endParaRPr lang="el-GR" sz="1000" dirty="0"/>
                    </a:p>
                    <a:p>
                      <a:pPr algn="ctr">
                        <a:lnSpc>
                          <a:spcPct val="150000"/>
                        </a:lnSpc>
                      </a:pPr>
                      <a:endParaRPr lang="el-GR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l-GR" sz="1000" dirty="0"/>
                        <a:t>Οικοδεσπότης_</a:t>
                      </a:r>
                      <a:r>
                        <a:rPr lang="en-US" sz="1000" dirty="0"/>
                        <a:t>id</a:t>
                      </a:r>
                      <a:endParaRPr lang="el-GR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el-GR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l-GR" sz="1000" dirty="0"/>
                        <a:t>Όνομα /</a:t>
                      </a:r>
                      <a:r>
                        <a:rPr lang="el-GR" sz="1000" dirty="0" err="1"/>
                        <a:t>Ημερομηνία_εγγραφής</a:t>
                      </a:r>
                      <a:r>
                        <a:rPr lang="el-GR" sz="1000" dirty="0"/>
                        <a:t> /Τοποθεσία / </a:t>
                      </a:r>
                      <a:r>
                        <a:rPr lang="el-GR" sz="1000" dirty="0" err="1"/>
                        <a:t>Ρυθμό_απάντησης_σε_μηνύματα</a:t>
                      </a:r>
                      <a:r>
                        <a:rPr lang="el-GR" sz="1000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varchar / datetime / varchar / time</a:t>
                      </a:r>
                      <a:endParaRPr lang="el-GR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2701098"/>
                  </a:ext>
                </a:extLst>
              </a:tr>
              <a:tr h="94113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l-GR" sz="1000" dirty="0" err="1"/>
                        <a:t>Είδη_Ταυτοποίησης</a:t>
                      </a:r>
                      <a:endParaRPr lang="el-GR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000" dirty="0"/>
                        <a:t>N-N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000" dirty="0"/>
                        <a:t>(</a:t>
                      </a:r>
                      <a:r>
                        <a:rPr lang="el-GR" sz="1000" dirty="0"/>
                        <a:t>Οικοδεσπότες)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l-GR" sz="1000" dirty="0" err="1"/>
                        <a:t>Είδος_Ταυτοποιήσης</a:t>
                      </a:r>
                      <a:r>
                        <a:rPr lang="el-GR" sz="1000" dirty="0"/>
                        <a:t>_</a:t>
                      </a:r>
                      <a:r>
                        <a:rPr lang="en-US" sz="1000" dirty="0"/>
                        <a:t>id</a:t>
                      </a:r>
                      <a:endParaRPr lang="el-GR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el-GR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l-GR" sz="1000" dirty="0" err="1"/>
                        <a:t>Όνομα_είδους_ταυτοποίησης</a:t>
                      </a:r>
                      <a:endParaRPr lang="el-GR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varchar</a:t>
                      </a:r>
                      <a:endParaRPr lang="el-GR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6679548"/>
                  </a:ext>
                </a:extLst>
              </a:tr>
              <a:tr h="86752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l-GR" sz="1000" dirty="0" err="1"/>
                        <a:t>Τύποι_Δωματίων</a:t>
                      </a:r>
                      <a:endParaRPr lang="el-GR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l-GR" sz="1000" dirty="0"/>
                        <a:t>1-</a:t>
                      </a:r>
                      <a:r>
                        <a:rPr lang="en-US" sz="1000" dirty="0"/>
                        <a:t>N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000" dirty="0"/>
                        <a:t>(</a:t>
                      </a:r>
                      <a:r>
                        <a:rPr lang="el-GR" sz="1000" dirty="0"/>
                        <a:t>Καταλύματα)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000" dirty="0"/>
                        <a:t>T</a:t>
                      </a:r>
                      <a:r>
                        <a:rPr lang="el-GR" sz="1000" dirty="0" err="1"/>
                        <a:t>ύπος_Δωματίου</a:t>
                      </a:r>
                      <a:r>
                        <a:rPr lang="el-GR" sz="1000" dirty="0"/>
                        <a:t>_</a:t>
                      </a:r>
                      <a:r>
                        <a:rPr lang="en-US" sz="1000" dirty="0"/>
                        <a:t>id</a:t>
                      </a:r>
                      <a:endParaRPr lang="el-GR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l-GR" sz="1000" dirty="0"/>
                        <a:t>Κατάλυμα_</a:t>
                      </a:r>
                      <a:r>
                        <a:rPr lang="en-US" sz="1000" dirty="0"/>
                        <a:t>id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endParaRPr lang="el-GR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l-GR" sz="1000" dirty="0" err="1"/>
                        <a:t>Τύπος_Δωματίου_Περιγραφή</a:t>
                      </a:r>
                      <a:endParaRPr lang="el-GR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/>
                        <a:t>varchar</a:t>
                      </a:r>
                      <a:endParaRPr lang="el-GR" sz="1000" dirty="0"/>
                    </a:p>
                    <a:p>
                      <a:endParaRPr lang="el-GR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0393129"/>
                  </a:ext>
                </a:extLst>
              </a:tr>
              <a:tr h="86752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l-GR" sz="1000" dirty="0"/>
                        <a:t>Κρατήσεις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000" dirty="0"/>
                        <a:t>N-</a:t>
                      </a:r>
                      <a:r>
                        <a:rPr lang="el-GR" sz="1000" dirty="0"/>
                        <a:t>1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l-GR" sz="1000" dirty="0"/>
                        <a:t>(Κατάλυμα)</a:t>
                      </a:r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l-GR" sz="1000" dirty="0"/>
                        <a:t>Κράτηση_</a:t>
                      </a:r>
                      <a:r>
                        <a:rPr lang="en-US" sz="1000" dirty="0"/>
                        <a:t>id</a:t>
                      </a:r>
                      <a:endParaRPr lang="el-GR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l-GR" sz="1000" dirty="0"/>
                        <a:t>Χρήστη_</a:t>
                      </a:r>
                      <a:r>
                        <a:rPr lang="en-US" sz="1000" dirty="0"/>
                        <a:t>id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l-GR" sz="1000" dirty="0"/>
                        <a:t>Κατάλυμα_</a:t>
                      </a:r>
                      <a:r>
                        <a:rPr lang="en-US" sz="1000" dirty="0"/>
                        <a:t>id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endParaRPr lang="el-GR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l-GR" sz="1000" dirty="0" err="1"/>
                        <a:t>Ημερομηνία_κράτησης</a:t>
                      </a:r>
                      <a:r>
                        <a:rPr lang="el-GR" sz="1000" dirty="0"/>
                        <a:t> /</a:t>
                      </a:r>
                      <a:r>
                        <a:rPr lang="el-GR" sz="1000" dirty="0" err="1"/>
                        <a:t>Διάρκεια_διαμονής</a:t>
                      </a:r>
                      <a:endParaRPr lang="el-GR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datetime / integer</a:t>
                      </a:r>
                      <a:endParaRPr lang="el-GR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1561957"/>
                  </a:ext>
                </a:extLst>
              </a:tr>
              <a:tr h="352186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l-GR" sz="1000" dirty="0"/>
                        <a:t>Χρήστες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000" dirty="0"/>
                        <a:t>1-N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/>
                        <a:t>(</a:t>
                      </a:r>
                      <a:r>
                        <a:rPr lang="el-GR" sz="1000" dirty="0"/>
                        <a:t>Κρατήσεις</a:t>
                      </a:r>
                      <a:r>
                        <a:rPr lang="en-US" sz="1000" dirty="0"/>
                        <a:t>)</a:t>
                      </a:r>
                      <a:endParaRPr lang="el-GR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l-GR" sz="1000" dirty="0"/>
                        <a:t>Χρήστη_</a:t>
                      </a:r>
                      <a:r>
                        <a:rPr lang="en-US" sz="1000" dirty="0"/>
                        <a:t>id</a:t>
                      </a:r>
                      <a:endParaRPr lang="el-GR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el-GR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l-GR" sz="1000" dirty="0"/>
                        <a:t>Όνομα /</a:t>
                      </a:r>
                      <a:r>
                        <a:rPr lang="el-GR" sz="1000" dirty="0" err="1"/>
                        <a:t>Ημερομηνία_γέννησης</a:t>
                      </a:r>
                      <a:r>
                        <a:rPr lang="el-GR" sz="1000" dirty="0"/>
                        <a:t> /</a:t>
                      </a:r>
                      <a:r>
                        <a:rPr lang="el-GR" sz="1000" dirty="0" err="1"/>
                        <a:t>Τηλέγωνο</a:t>
                      </a:r>
                      <a:r>
                        <a:rPr lang="el-GR" sz="1000" dirty="0"/>
                        <a:t> /</a:t>
                      </a:r>
                      <a:r>
                        <a:rPr lang="en-US" sz="1000" dirty="0"/>
                        <a:t>Email / T</a:t>
                      </a:r>
                      <a:r>
                        <a:rPr lang="el-GR" sz="1000" dirty="0" err="1"/>
                        <a:t>όπο_κατοικίας</a:t>
                      </a:r>
                      <a:r>
                        <a:rPr lang="el-GR" sz="1000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varchar / date / integer / varchar / varchar</a:t>
                      </a:r>
                    </a:p>
                    <a:p>
                      <a:endParaRPr lang="el-GR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06838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6091196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Πλέγμα">
  <a:themeElements>
    <a:clrScheme name="Mesh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Mesh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esh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B8BE45C0-8141-4D58-8C71-A009BC26FBB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{F1448442-606C-49F7-8E18-4EE723649900}TF5e103eea-be93-4576-ae9c-3ecc0de701e778eee33e-07fd5b161507</Template>
  <TotalTime>320</TotalTime>
  <Words>327</Words>
  <Application>Microsoft Office PowerPoint</Application>
  <PresentationFormat>Ευρεία οθόνη</PresentationFormat>
  <Paragraphs>64</Paragraphs>
  <Slides>4</Slides>
  <Notes>0</Notes>
  <HiddenSlides>0</HiddenSlides>
  <MMClips>0</MMClips>
  <ScaleCrop>false</ScaleCrop>
  <HeadingPairs>
    <vt:vector size="6" baseType="variant">
      <vt:variant>
        <vt:lpstr>Γραμματοσειρές που χρησιμοποιούνται</vt:lpstr>
      </vt:variant>
      <vt:variant>
        <vt:i4>2</vt:i4>
      </vt:variant>
      <vt:variant>
        <vt:lpstr>Θέμα</vt:lpstr>
      </vt:variant>
      <vt:variant>
        <vt:i4>1</vt:i4>
      </vt:variant>
      <vt:variant>
        <vt:lpstr>Τίτλοι διαφανειών</vt:lpstr>
      </vt:variant>
      <vt:variant>
        <vt:i4>4</vt:i4>
      </vt:variant>
    </vt:vector>
  </HeadingPairs>
  <TitlesOfParts>
    <vt:vector size="7" baseType="lpstr">
      <vt:lpstr>Arial</vt:lpstr>
      <vt:lpstr>Century Gothic</vt:lpstr>
      <vt:lpstr>Πλέγμα</vt:lpstr>
      <vt:lpstr>RD MODEL </vt:lpstr>
      <vt:lpstr>LOGICAL RD MODEL</vt:lpstr>
      <vt:lpstr>ΠΕΡΙΓΡΑΦΗ</vt:lpstr>
      <vt:lpstr>Παρουσίαση του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STEFANOS CHOULIOUMIS</dc:creator>
  <cp:lastModifiedBy>STEFANOS CHOULIOUMIS</cp:lastModifiedBy>
  <cp:revision>8</cp:revision>
  <dcterms:created xsi:type="dcterms:W3CDTF">2026-01-23T19:23:16Z</dcterms:created>
  <dcterms:modified xsi:type="dcterms:W3CDTF">2026-02-05T19:04:57Z</dcterms:modified>
</cp:coreProperties>
</file>